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Outfit Light"/>
      <p:regular r:id="rId17"/>
      <p:bold r:id="rId18"/>
    </p:embeddedFont>
    <p:embeddedFont>
      <p:font typeface="Outfit"/>
      <p:regular r:id="rId19"/>
      <p:bold r:id="rId20"/>
    </p:embeddedFont>
    <p:embeddedFont>
      <p:font typeface="Outfit SemiBold"/>
      <p:regular r:id="rId21"/>
      <p:bold r:id="rId22"/>
    </p:embeddedFont>
    <p:embeddedFont>
      <p:font typeface="Outfit Medium"/>
      <p:regular r:id="rId23"/>
      <p:bold r:id="rId24"/>
    </p:embeddedFont>
    <p:embeddedFont>
      <p:font typeface="Outfit Thin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bold.fntdata"/><Relationship Id="rId22" Type="http://schemas.openxmlformats.org/officeDocument/2006/relationships/font" Target="fonts/OutfitSemiBold-bold.fntdata"/><Relationship Id="rId21" Type="http://schemas.openxmlformats.org/officeDocument/2006/relationships/font" Target="fonts/OutfitSemiBold-regular.fntdata"/><Relationship Id="rId24" Type="http://schemas.openxmlformats.org/officeDocument/2006/relationships/font" Target="fonts/OutfitMedium-bold.fntdata"/><Relationship Id="rId23" Type="http://schemas.openxmlformats.org/officeDocument/2006/relationships/font" Target="fonts/Outfi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utfitThin-bold.fntdata"/><Relationship Id="rId25" Type="http://schemas.openxmlformats.org/officeDocument/2006/relationships/font" Target="fonts/OutfitThin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OutfitLight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Outfit-regular.fntdata"/><Relationship Id="rId18" Type="http://schemas.openxmlformats.org/officeDocument/2006/relationships/font" Target="fonts/Outfit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080c47f1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a080c47f1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080c47f1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a080c47f1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a080c47f1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aa080c47f1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a080c47f1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a080c47f1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a080c47f1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a080c47f1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080c47f1_0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a080c47f1_0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Logo_XS_Dark" type="title">
  <p:cSld name="TITLE">
    <p:bg>
      <p:bgPr>
        <a:solidFill>
          <a:schemeClr val="accen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 title="Logo_XS_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174" y="168453"/>
            <a:ext cx="547200" cy="5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Logo_XS_Color">
  <p:cSld name="MAIN_POINT_1_1_3_1_1">
    <p:bg>
      <p:bgPr>
        <a:noFill/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 title="Logo_XS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875" y="168151"/>
            <a:ext cx="547200" cy="5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Logo_XS_Black">
  <p:cSld name="TITLE_3_1_1">
    <p:bg>
      <p:bgPr>
        <a:noFill/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6" title="Logo_XS_BW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175" y="168451"/>
            <a:ext cx="546575" cy="5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Logo_XS_Green">
  <p:cSld name="MAIN_POINT_1_1_3_2_1"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7" title="Logo_XS_Color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863" y="168138"/>
            <a:ext cx="547200" cy="5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Logo_XS_Black_Grey">
  <p:cSld name="TITLE_3_1">
    <p:bg>
      <p:bgPr>
        <a:solidFill>
          <a:schemeClr val="accent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8" title="Logo_XS_BW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175" y="168451"/>
            <a:ext cx="546575" cy="5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_LogoHeader_Light">
  <p:cSld name="TITLE_2_1">
    <p:bg>
      <p:bgPr>
        <a:solidFill>
          <a:schemeClr val="accent6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9"/>
          <p:cNvCxnSpPr/>
          <p:nvPr/>
        </p:nvCxnSpPr>
        <p:spPr>
          <a:xfrm flipH="1" rot="10800000">
            <a:off x="562850" y="354216"/>
            <a:ext cx="7923000" cy="1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9"/>
          <p:cNvCxnSpPr/>
          <p:nvPr/>
        </p:nvCxnSpPr>
        <p:spPr>
          <a:xfrm flipH="1" rot="10800000">
            <a:off x="562850" y="790816"/>
            <a:ext cx="7923000" cy="1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" name="Google Shape;66;p19" title="Logo_S_BW.png"/>
          <p:cNvPicPr preferRelativeResize="0"/>
          <p:nvPr/>
        </p:nvPicPr>
        <p:blipFill rotWithShape="1">
          <a:blip r:embed="rId2">
            <a:alphaModFix/>
          </a:blip>
          <a:srcRect b="21629" l="0" r="0" t="21629"/>
          <a:stretch/>
        </p:blipFill>
        <p:spPr>
          <a:xfrm>
            <a:off x="646850" y="508200"/>
            <a:ext cx="679183" cy="139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LogoHeader_Dark">
  <p:cSld name="TITLE_2_1_1">
    <p:bg>
      <p:bgPr>
        <a:solidFill>
          <a:schemeClr val="accen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20"/>
          <p:cNvCxnSpPr/>
          <p:nvPr/>
        </p:nvCxnSpPr>
        <p:spPr>
          <a:xfrm flipH="1" rot="10800000">
            <a:off x="562850" y="354216"/>
            <a:ext cx="7923000" cy="10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20"/>
          <p:cNvCxnSpPr/>
          <p:nvPr/>
        </p:nvCxnSpPr>
        <p:spPr>
          <a:xfrm flipH="1" rot="10800000">
            <a:off x="562850" y="790816"/>
            <a:ext cx="7923000" cy="10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0" name="Google Shape;70;p20" title="Logo_S_White.png"/>
          <p:cNvPicPr preferRelativeResize="0"/>
          <p:nvPr/>
        </p:nvPicPr>
        <p:blipFill rotWithShape="1">
          <a:blip r:embed="rId2">
            <a:alphaModFix/>
          </a:blip>
          <a:srcRect b="21627" l="0" r="0" t="21621"/>
          <a:stretch/>
        </p:blipFill>
        <p:spPr>
          <a:xfrm>
            <a:off x="657025" y="508200"/>
            <a:ext cx="679168" cy="13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LogoXS+S_Light">
  <p:cSld name="TITLE_AND_BODY_1">
    <p:bg>
      <p:bgPr>
        <a:solidFill>
          <a:schemeClr val="accen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1" title="Logo_S_White.png"/>
          <p:cNvPicPr preferRelativeResize="0"/>
          <p:nvPr/>
        </p:nvPicPr>
        <p:blipFill rotWithShape="1">
          <a:blip r:embed="rId2">
            <a:alphaModFix/>
          </a:blip>
          <a:srcRect b="21627" l="0" r="0" t="21621"/>
          <a:stretch/>
        </p:blipFill>
        <p:spPr>
          <a:xfrm>
            <a:off x="428425" y="4623000"/>
            <a:ext cx="679168" cy="13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1" title="Logo_XS_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0174" y="168453"/>
            <a:ext cx="547200" cy="5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1"/>
          <p:cNvSpPr/>
          <p:nvPr/>
        </p:nvSpPr>
        <p:spPr>
          <a:xfrm>
            <a:off x="0" y="0"/>
            <a:ext cx="6792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Light">
  <p:cSld name="MAIN_POINT_1">
    <p:bg>
      <p:bgPr>
        <a:noFill/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2" title="Logo_XS_BW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175" y="168451"/>
            <a:ext cx="546575" cy="5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ight_Body_with_Title_BlackV">
  <p:cSld name="MAIN_POINT_1_1">
    <p:bg>
      <p:bgPr>
        <a:noFill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23"/>
          <p:cNvCxnSpPr/>
          <p:nvPr/>
        </p:nvCxnSpPr>
        <p:spPr>
          <a:xfrm>
            <a:off x="254125" y="4949898"/>
            <a:ext cx="859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" name="Google Shape;79;p23" title="Logo_XS_BW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175" y="168451"/>
            <a:ext cx="546575" cy="5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3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288325" y="919025"/>
            <a:ext cx="5687400" cy="3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1pPr>
            <a:lvl2pPr lvl="1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2pPr>
            <a:lvl3pPr lvl="2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3pPr>
            <a:lvl4pPr lvl="3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4pPr>
            <a:lvl5pPr lvl="4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5pPr>
            <a:lvl6pPr lvl="5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6pPr>
            <a:lvl7pPr lvl="6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7pPr>
            <a:lvl8pPr lvl="7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8pPr>
            <a:lvl9pPr lvl="8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ight_Body_with_Title_GreenV">
  <p:cSld name="MAIN_POINT_1_1_3">
    <p:bg>
      <p:bgPr>
        <a:noFill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4" title="Logo_XS_Color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863" y="168138"/>
            <a:ext cx="547200" cy="5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4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>
            <a:off x="288325" y="919025"/>
            <a:ext cx="8526300" cy="3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cxnSp>
        <p:nvCxnSpPr>
          <p:cNvPr id="87" name="Google Shape;87;p24"/>
          <p:cNvCxnSpPr/>
          <p:nvPr/>
        </p:nvCxnSpPr>
        <p:spPr>
          <a:xfrm>
            <a:off x="254125" y="4949898"/>
            <a:ext cx="859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24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1pPr>
            <a:lvl2pPr lvl="1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2pPr>
            <a:lvl3pPr lvl="2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3pPr>
            <a:lvl4pPr lvl="3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4pPr>
            <a:lvl5pPr lvl="4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5pPr>
            <a:lvl6pPr lvl="5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6pPr>
            <a:lvl7pPr lvl="6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7pPr>
            <a:lvl8pPr lvl="7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8pPr>
            <a:lvl9pPr lvl="8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ight_Body_with_Title_ColorV">
  <p:cSld name="MAIN_POINT_1_1_3_1">
    <p:bg>
      <p:bgPr>
        <a:noFill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5" title="Logo_XS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875" y="168151"/>
            <a:ext cx="547200" cy="5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5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288325" y="919025"/>
            <a:ext cx="8526300" cy="3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cxnSp>
        <p:nvCxnSpPr>
          <p:cNvPr id="93" name="Google Shape;93;p25"/>
          <p:cNvCxnSpPr/>
          <p:nvPr/>
        </p:nvCxnSpPr>
        <p:spPr>
          <a:xfrm>
            <a:off x="254125" y="4949898"/>
            <a:ext cx="859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1pPr>
            <a:lvl2pPr lvl="1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2pPr>
            <a:lvl3pPr lvl="2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3pPr>
            <a:lvl4pPr lvl="3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4pPr>
            <a:lvl5pPr lvl="4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5pPr>
            <a:lvl6pPr lvl="5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6pPr>
            <a:lvl7pPr lvl="6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7pPr>
            <a:lvl8pPr lvl="7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8pPr>
            <a:lvl9pPr lvl="8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ight_Body_with_Title_BlackCavalis">
  <p:cSld name="MAIN_POINT_1_1_2">
    <p:bg>
      <p:bgPr>
        <a:noFill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6" title="Logo_S_B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56875" y="234750"/>
            <a:ext cx="1144801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6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288325" y="919025"/>
            <a:ext cx="8526300" cy="3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cxnSp>
        <p:nvCxnSpPr>
          <p:cNvPr id="99" name="Google Shape;99;p26"/>
          <p:cNvCxnSpPr/>
          <p:nvPr/>
        </p:nvCxnSpPr>
        <p:spPr>
          <a:xfrm>
            <a:off x="254125" y="4949898"/>
            <a:ext cx="859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26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1pPr>
            <a:lvl2pPr lvl="1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2pPr>
            <a:lvl3pPr lvl="2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3pPr>
            <a:lvl4pPr lvl="3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4pPr>
            <a:lvl5pPr lvl="4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5pPr>
            <a:lvl6pPr lvl="5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6pPr>
            <a:lvl7pPr lvl="6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7pPr>
            <a:lvl8pPr lvl="7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8pPr>
            <a:lvl9pPr lvl="8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ight_Body_with_Title_ColorCavalis 1">
  <p:cSld name="MAIN_POINT_1_1_2_2">
    <p:bg>
      <p:bgPr>
        <a:noFill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7" title="Logo_S_Col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6324" y="234452"/>
            <a:ext cx="1145902" cy="414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7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288325" y="919025"/>
            <a:ext cx="8526300" cy="3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cxnSp>
        <p:nvCxnSpPr>
          <p:cNvPr id="105" name="Google Shape;105;p27"/>
          <p:cNvCxnSpPr/>
          <p:nvPr/>
        </p:nvCxnSpPr>
        <p:spPr>
          <a:xfrm>
            <a:off x="254125" y="4949898"/>
            <a:ext cx="859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1pPr>
            <a:lvl2pPr lvl="1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2pPr>
            <a:lvl3pPr lvl="2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3pPr>
            <a:lvl4pPr lvl="3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4pPr>
            <a:lvl5pPr lvl="4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5pPr>
            <a:lvl6pPr lvl="5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6pPr>
            <a:lvl7pPr lvl="6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7pPr>
            <a:lvl8pPr lvl="7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8pPr>
            <a:lvl9pPr lvl="8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ight_Body_with_Title_GreenCavalis">
  <p:cSld name="MAIN_POINT_1_1_2_1">
    <p:bg>
      <p:bgPr>
        <a:noFill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8" title="Logo_S_Color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56875" y="234750"/>
            <a:ext cx="1144801" cy="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8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288325" y="919025"/>
            <a:ext cx="8526300" cy="3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cxnSp>
        <p:nvCxnSpPr>
          <p:cNvPr id="111" name="Google Shape;111;p28"/>
          <p:cNvCxnSpPr/>
          <p:nvPr/>
        </p:nvCxnSpPr>
        <p:spPr>
          <a:xfrm>
            <a:off x="254125" y="4949898"/>
            <a:ext cx="859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8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1pPr>
            <a:lvl2pPr lvl="1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2pPr>
            <a:lvl3pPr lvl="2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3pPr>
            <a:lvl4pPr lvl="3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4pPr>
            <a:lvl5pPr lvl="4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5pPr>
            <a:lvl6pPr lvl="5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6pPr>
            <a:lvl7pPr lvl="6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7pPr>
            <a:lvl8pPr lvl="7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8pPr>
            <a:lvl9pPr lvl="8" algn="r">
              <a:buNone/>
              <a:defRPr sz="600">
                <a:solidFill>
                  <a:srgbClr val="000000"/>
                </a:solidFill>
                <a:latin typeface="Outfit Thin"/>
                <a:ea typeface="Outfit Thin"/>
                <a:cs typeface="Outfit Thin"/>
                <a:sym typeface="Outfit Th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LogoBig_Text_Light">
  <p:cSld name="CUSTOM_2">
    <p:bg>
      <p:bgPr>
        <a:solidFill>
          <a:schemeClr val="accent6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9" title="Logo_S_B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2001" y="1131150"/>
            <a:ext cx="5040000" cy="18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LogoBig_Dark_White">
  <p:cSld name="CUSTOM_2_2">
    <p:bg>
      <p:bgPr>
        <a:solidFill>
          <a:schemeClr val="accen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0" title="Logo_S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2000" y="1664550"/>
            <a:ext cx="5040000" cy="18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LogoBig_Light_Color">
  <p:cSld name="CUSTOM_2_1_1">
    <p:bg>
      <p:bgPr>
        <a:solidFill>
          <a:schemeClr val="accent6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1" title="Logo_S_Col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51999" y="1664552"/>
            <a:ext cx="5040000" cy="18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LogoBig_Light_Green">
  <p:cSld name="CUSTOM_2_1_2">
    <p:bg>
      <p:bgPr>
        <a:solidFill>
          <a:schemeClr val="accent6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2" title="Logo_S_Color_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2000" y="1664550"/>
            <a:ext cx="5040000" cy="18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LogoBig_Light_Black">
  <p:cSld name="CUSTOM_2_1">
    <p:bg>
      <p:bgPr>
        <a:solidFill>
          <a:schemeClr val="accent6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3" title="Logo_S_B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2001" y="1664550"/>
            <a:ext cx="5040000" cy="18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LogoBig_Text_Dark">
  <p:cSld name="CUSTOM_2_3">
    <p:bg>
      <p:bgPr>
        <a:solidFill>
          <a:schemeClr val="accen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34" title="Logo_S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2000" y="1359750"/>
            <a:ext cx="5040000" cy="18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sz="1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8325" y="919025"/>
            <a:ext cx="85263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○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■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/>
        </p:nvSpPr>
        <p:spPr>
          <a:xfrm>
            <a:off x="463800" y="2243442"/>
            <a:ext cx="7982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Building </a:t>
            </a:r>
            <a:r>
              <a:rPr lang="en" sz="21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the</a:t>
            </a:r>
            <a:r>
              <a:rPr lang="en" sz="21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 Data Intelligence Factory of the future</a:t>
            </a:r>
            <a:r>
              <a:rPr lang="en" sz="21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 with cavalis</a:t>
            </a:r>
            <a:endParaRPr sz="21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130" name="Google Shape;130;p35"/>
          <p:cNvCxnSpPr/>
          <p:nvPr/>
        </p:nvCxnSpPr>
        <p:spPr>
          <a:xfrm flipH="1" rot="10800000">
            <a:off x="562850" y="2986848"/>
            <a:ext cx="7923000" cy="10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35"/>
          <p:cNvSpPr txBox="1"/>
          <p:nvPr/>
        </p:nvSpPr>
        <p:spPr>
          <a:xfrm>
            <a:off x="432924" y="1761618"/>
            <a:ext cx="6175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From Data to Value</a:t>
            </a:r>
            <a:endParaRPr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32" name="Google Shape;132;p35"/>
          <p:cNvSpPr txBox="1"/>
          <p:nvPr/>
        </p:nvSpPr>
        <p:spPr>
          <a:xfrm>
            <a:off x="457200" y="4522000"/>
            <a:ext cx="870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Date</a:t>
            </a:r>
            <a:endParaRPr sz="1030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33" name="Google Shape;133;p35"/>
          <p:cNvSpPr txBox="1"/>
          <p:nvPr/>
        </p:nvSpPr>
        <p:spPr>
          <a:xfrm>
            <a:off x="1589975" y="4538200"/>
            <a:ext cx="6693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Speaker Name, Title</a:t>
            </a:r>
            <a:endParaRPr sz="10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Speaker Name, Title</a:t>
            </a:r>
            <a:endParaRPr sz="10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134" name="Google Shape;134;p35"/>
          <p:cNvCxnSpPr/>
          <p:nvPr/>
        </p:nvCxnSpPr>
        <p:spPr>
          <a:xfrm>
            <a:off x="1437585" y="4522000"/>
            <a:ext cx="0" cy="368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/>
        </p:nvSpPr>
        <p:spPr>
          <a:xfrm>
            <a:off x="432918" y="788849"/>
            <a:ext cx="3000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Agenda</a:t>
            </a:r>
            <a:endParaRPr sz="3600">
              <a:solidFill>
                <a:schemeClr val="dk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0" name="Google Shape;140;p36"/>
          <p:cNvSpPr txBox="1"/>
          <p:nvPr/>
        </p:nvSpPr>
        <p:spPr>
          <a:xfrm>
            <a:off x="2246100" y="1950230"/>
            <a:ext cx="4089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[…]</a:t>
            </a:r>
            <a:endParaRPr sz="12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41" name="Google Shape;141;p36"/>
          <p:cNvSpPr/>
          <p:nvPr/>
        </p:nvSpPr>
        <p:spPr>
          <a:xfrm>
            <a:off x="1716338" y="1950226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36"/>
          <p:cNvSpPr txBox="1"/>
          <p:nvPr/>
        </p:nvSpPr>
        <p:spPr>
          <a:xfrm>
            <a:off x="2246100" y="2483630"/>
            <a:ext cx="4089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[…]</a:t>
            </a:r>
            <a:endParaRPr sz="12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43" name="Google Shape;143;p36"/>
          <p:cNvSpPr/>
          <p:nvPr/>
        </p:nvSpPr>
        <p:spPr>
          <a:xfrm>
            <a:off x="1716338" y="2483626"/>
            <a:ext cx="360000" cy="360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4" name="Google Shape;144;p36"/>
          <p:cNvSpPr txBox="1"/>
          <p:nvPr/>
        </p:nvSpPr>
        <p:spPr>
          <a:xfrm>
            <a:off x="2246100" y="3017030"/>
            <a:ext cx="4089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[…]</a:t>
            </a:r>
            <a:endParaRPr sz="12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45" name="Google Shape;145;p36"/>
          <p:cNvSpPr/>
          <p:nvPr/>
        </p:nvSpPr>
        <p:spPr>
          <a:xfrm>
            <a:off x="1716338" y="3017026"/>
            <a:ext cx="360000" cy="360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22"/>
              <a:buNone/>
            </a:pPr>
            <a:r>
              <a:rPr lang="en"/>
              <a:t>[Use Case: XXX]</a:t>
            </a:r>
            <a:endParaRPr/>
          </a:p>
        </p:txBody>
      </p:sp>
      <p:sp>
        <p:nvSpPr>
          <p:cNvPr id="151" name="Google Shape;151;p37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37"/>
          <p:cNvSpPr txBox="1"/>
          <p:nvPr/>
        </p:nvSpPr>
        <p:spPr>
          <a:xfrm>
            <a:off x="454925" y="892575"/>
            <a:ext cx="39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Challenges &amp; Insights</a:t>
            </a:r>
            <a:endParaRPr i="0" sz="1200" u="none" cap="none" strike="noStrike">
              <a:solidFill>
                <a:srgbClr val="00000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53" name="Google Shape;153;p37"/>
          <p:cNvSpPr txBox="1"/>
          <p:nvPr/>
        </p:nvSpPr>
        <p:spPr>
          <a:xfrm>
            <a:off x="454925" y="1199573"/>
            <a:ext cx="394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A2A"/>
              </a:buClr>
              <a:buSzPts val="700"/>
              <a:buFont typeface="Outfit Medium"/>
              <a:buChar char="●"/>
            </a:pPr>
            <a:r>
              <a:rPr lang="en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…</a:t>
            </a:r>
            <a:endParaRPr i="0" sz="900" u="none" cap="none" strike="noStrike">
              <a:solidFill>
                <a:schemeClr val="dk1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Outfit"/>
              <a:buChar char="●"/>
            </a:pPr>
            <a:r>
              <a:rPr lang="en" sz="9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[Description of inefficiency incl. figures and metrics] </a:t>
            </a:r>
            <a:endParaRPr sz="900">
              <a:solidFill>
                <a:srgbClr val="7F7F7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Outfit"/>
              <a:buChar char="●"/>
            </a:pPr>
            <a:r>
              <a:rPr lang="en" sz="9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[What are the inefficiencies’ consequences, …]</a:t>
            </a:r>
            <a:endParaRPr i="0" sz="900" u="none" cap="none" strike="noStrike">
              <a:solidFill>
                <a:srgbClr val="7F7F7F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cxnSp>
        <p:nvCxnSpPr>
          <p:cNvPr id="154" name="Google Shape;154;p37"/>
          <p:cNvCxnSpPr/>
          <p:nvPr/>
        </p:nvCxnSpPr>
        <p:spPr>
          <a:xfrm>
            <a:off x="454925" y="1116176"/>
            <a:ext cx="39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37"/>
          <p:cNvSpPr txBox="1"/>
          <p:nvPr/>
        </p:nvSpPr>
        <p:spPr>
          <a:xfrm>
            <a:off x="454925" y="2160206"/>
            <a:ext cx="39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Solution</a:t>
            </a:r>
            <a:endParaRPr i="0" sz="1200" u="none" cap="none" strike="noStrike">
              <a:solidFill>
                <a:srgbClr val="00000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56" name="Google Shape;156;p37"/>
          <p:cNvSpPr txBox="1"/>
          <p:nvPr/>
        </p:nvSpPr>
        <p:spPr>
          <a:xfrm>
            <a:off x="454925" y="2467200"/>
            <a:ext cx="831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utfi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…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Outfit"/>
              <a:buChar char="●"/>
            </a:pPr>
            <a:r>
              <a:rPr b="0" i="0" lang="en" sz="900" u="none" cap="none" strike="noStrike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</a:t>
            </a:r>
            <a:r>
              <a:rPr lang="en" sz="9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Short description of your solution</a:t>
            </a:r>
            <a:r>
              <a:rPr b="0" i="0" lang="en" sz="900" u="none" cap="none" strike="noStrike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]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57" name="Google Shape;157;p37"/>
          <p:cNvCxnSpPr/>
          <p:nvPr/>
        </p:nvCxnSpPr>
        <p:spPr>
          <a:xfrm>
            <a:off x="454925" y="2383808"/>
            <a:ext cx="824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37"/>
          <p:cNvSpPr txBox="1"/>
          <p:nvPr/>
        </p:nvSpPr>
        <p:spPr>
          <a:xfrm>
            <a:off x="454918" y="3427825"/>
            <a:ext cx="823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Business Value</a:t>
            </a:r>
            <a:endParaRPr i="0" sz="1200" u="none" cap="none" strike="noStrike">
              <a:solidFill>
                <a:srgbClr val="00000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59" name="Google Shape;159;p37"/>
          <p:cNvCxnSpPr/>
          <p:nvPr/>
        </p:nvCxnSpPr>
        <p:spPr>
          <a:xfrm>
            <a:off x="454918" y="3651450"/>
            <a:ext cx="823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37"/>
          <p:cNvSpPr txBox="1"/>
          <p:nvPr/>
        </p:nvSpPr>
        <p:spPr>
          <a:xfrm>
            <a:off x="6813935" y="3995942"/>
            <a:ext cx="33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=</a:t>
            </a:r>
            <a:endParaRPr b="0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1" name="Google Shape;161;p37"/>
          <p:cNvSpPr/>
          <p:nvPr/>
        </p:nvSpPr>
        <p:spPr>
          <a:xfrm>
            <a:off x="7151050" y="3849677"/>
            <a:ext cx="153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2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€XX</a:t>
            </a:r>
            <a:endParaRPr i="0" sz="2000" u="none" cap="none" strike="noStrike">
              <a:solidFill>
                <a:srgbClr val="00000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Potential Value in …</a:t>
            </a:r>
            <a:endParaRPr i="0" sz="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 </a:t>
            </a:r>
            <a:r>
              <a:rPr i="0" lang="en" sz="800" u="none" cap="none" strike="noStrike">
                <a:solidFill>
                  <a:srgbClr val="7F7F7F"/>
                </a:solidFill>
                <a:latin typeface="Outfit Light"/>
                <a:ea typeface="Outfit Light"/>
                <a:cs typeface="Outfit Light"/>
                <a:sym typeface="Outfit Light"/>
              </a:rPr>
              <a:t>[Working Capital / Cost savings / revenue  / …}</a:t>
            </a:r>
            <a:endParaRPr i="0" sz="800" u="none" cap="none" strike="noStrike">
              <a:solidFill>
                <a:srgbClr val="7F7F7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62" name="Google Shape;162;p37"/>
          <p:cNvSpPr txBox="1"/>
          <p:nvPr/>
        </p:nvSpPr>
        <p:spPr>
          <a:xfrm>
            <a:off x="4746600" y="889950"/>
            <a:ext cx="39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Root Causes</a:t>
            </a:r>
            <a:endParaRPr i="0" sz="1200" u="none" cap="none" strike="noStrike">
              <a:solidFill>
                <a:srgbClr val="00000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63" name="Google Shape;163;p37"/>
          <p:cNvSpPr txBox="1"/>
          <p:nvPr/>
        </p:nvSpPr>
        <p:spPr>
          <a:xfrm>
            <a:off x="4746600" y="1196948"/>
            <a:ext cx="394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utfit"/>
              <a:buChar char="●"/>
            </a:pPr>
            <a:r>
              <a:rPr lang="en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…</a:t>
            </a:r>
            <a:endParaRPr sz="900">
              <a:solidFill>
                <a:schemeClr val="dk1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Outfit"/>
              <a:buChar char="●"/>
            </a:pPr>
            <a:r>
              <a:rPr lang="en" sz="9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[Patterns in the data, e.g. inefficiency occurs more often for specific customers, materials, etc.] </a:t>
            </a:r>
            <a:endParaRPr sz="900">
              <a:solidFill>
                <a:srgbClr val="7F7F7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Outfit"/>
              <a:buChar char="●"/>
            </a:pPr>
            <a:r>
              <a:rPr lang="en" sz="9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[Assumptions about what could be the underlying root causes, …]</a:t>
            </a:r>
            <a:endParaRPr i="0" sz="900" u="none" cap="none" strike="noStrike">
              <a:solidFill>
                <a:srgbClr val="7F7F7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cxnSp>
        <p:nvCxnSpPr>
          <p:cNvPr id="164" name="Google Shape;164;p37"/>
          <p:cNvCxnSpPr/>
          <p:nvPr/>
        </p:nvCxnSpPr>
        <p:spPr>
          <a:xfrm>
            <a:off x="4746600" y="1113551"/>
            <a:ext cx="39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37"/>
          <p:cNvSpPr txBox="1"/>
          <p:nvPr/>
        </p:nvSpPr>
        <p:spPr>
          <a:xfrm>
            <a:off x="455550" y="4502976"/>
            <a:ext cx="7522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Assumptions:</a:t>
            </a:r>
            <a:r>
              <a:rPr i="0" lang="en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 </a:t>
            </a:r>
            <a:r>
              <a:rPr i="1" lang="en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…. [If needed, list assumptions for business value calculation]</a:t>
            </a:r>
            <a:endParaRPr i="1" sz="900" u="none" cap="none" strike="noStrike">
              <a:solidFill>
                <a:schemeClr val="dk1"/>
              </a:solidFill>
              <a:highlight>
                <a:srgbClr val="5CFE50"/>
              </a:highlight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66" name="Google Shape;166;p37"/>
          <p:cNvSpPr/>
          <p:nvPr/>
        </p:nvSpPr>
        <p:spPr>
          <a:xfrm>
            <a:off x="7063350" y="3517950"/>
            <a:ext cx="1710300" cy="261600"/>
          </a:xfrm>
          <a:prstGeom prst="roundRect">
            <a:avLst>
              <a:gd fmla="val 24771" name="adj"/>
            </a:avLst>
          </a:prstGeom>
          <a:solidFill>
            <a:schemeClr val="accent2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Value</a:t>
            </a:r>
            <a:endParaRPr b="0" i="0" sz="900" u="none" cap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7" name="Google Shape;167;p37"/>
          <p:cNvSpPr/>
          <p:nvPr/>
        </p:nvSpPr>
        <p:spPr>
          <a:xfrm>
            <a:off x="393275" y="3676100"/>
            <a:ext cx="1138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…</a:t>
            </a:r>
            <a:endParaRPr b="0" i="0" sz="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8" name="Google Shape;168;p37"/>
          <p:cNvSpPr/>
          <p:nvPr/>
        </p:nvSpPr>
        <p:spPr>
          <a:xfrm>
            <a:off x="1863198" y="3671350"/>
            <a:ext cx="979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…</a:t>
            </a:r>
            <a:endParaRPr b="1" i="0" sz="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9" name="Google Shape;169;p37"/>
          <p:cNvSpPr txBox="1"/>
          <p:nvPr/>
        </p:nvSpPr>
        <p:spPr>
          <a:xfrm>
            <a:off x="1465799" y="3995942"/>
            <a:ext cx="33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x</a:t>
            </a:r>
            <a:endParaRPr b="0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37"/>
          <p:cNvSpPr/>
          <p:nvPr/>
        </p:nvSpPr>
        <p:spPr>
          <a:xfrm>
            <a:off x="3310998" y="3671350"/>
            <a:ext cx="979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…</a:t>
            </a:r>
            <a:endParaRPr b="1" i="0" sz="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1" name="Google Shape;171;p37"/>
          <p:cNvSpPr txBox="1"/>
          <p:nvPr/>
        </p:nvSpPr>
        <p:spPr>
          <a:xfrm>
            <a:off x="2859563" y="3995950"/>
            <a:ext cx="36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x</a:t>
            </a:r>
            <a:endParaRPr b="0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37"/>
          <p:cNvSpPr/>
          <p:nvPr/>
        </p:nvSpPr>
        <p:spPr>
          <a:xfrm>
            <a:off x="415402" y="3595150"/>
            <a:ext cx="3875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700" u="none" cap="none" strike="noStrike">
                <a:solidFill>
                  <a:srgbClr val="7F7F7F"/>
                </a:solidFill>
                <a:latin typeface="Outfit Medium"/>
                <a:ea typeface="Outfit Medium"/>
                <a:cs typeface="Outfit Medium"/>
                <a:sym typeface="Outfit Medium"/>
              </a:rPr>
              <a:t>[Formula(s) for business case calculation]</a:t>
            </a:r>
            <a:endParaRPr i="0" sz="700" u="none" cap="none" strike="noStrike">
              <a:solidFill>
                <a:srgbClr val="7F7F7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3" name="Google Shape;173;p37"/>
          <p:cNvSpPr/>
          <p:nvPr/>
        </p:nvSpPr>
        <p:spPr>
          <a:xfrm>
            <a:off x="455250" y="4030000"/>
            <a:ext cx="979800" cy="193500"/>
          </a:xfrm>
          <a:prstGeom prst="roundRect">
            <a:avLst>
              <a:gd fmla="val 24771" name="adj"/>
            </a:avLst>
          </a:prstGeom>
          <a:solidFill>
            <a:schemeClr val="accent6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1826850" y="4030000"/>
            <a:ext cx="979800" cy="193500"/>
          </a:xfrm>
          <a:prstGeom prst="roundRect">
            <a:avLst>
              <a:gd fmla="val 24771" name="adj"/>
            </a:avLst>
          </a:prstGeom>
          <a:solidFill>
            <a:schemeClr val="accent6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5" name="Google Shape;175;p37"/>
          <p:cNvSpPr/>
          <p:nvPr/>
        </p:nvSpPr>
        <p:spPr>
          <a:xfrm>
            <a:off x="3274650" y="4030000"/>
            <a:ext cx="979800" cy="193500"/>
          </a:xfrm>
          <a:prstGeom prst="roundRect">
            <a:avLst>
              <a:gd fmla="val 24771" name="adj"/>
            </a:avLst>
          </a:prstGeom>
          <a:solidFill>
            <a:schemeClr val="accent6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Value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idx="4294967295" type="title"/>
          </p:nvPr>
        </p:nvSpPr>
        <p:spPr>
          <a:xfrm>
            <a:off x="288325" y="168475"/>
            <a:ext cx="7939200" cy="5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[AI Solution]</a:t>
            </a:r>
            <a:endParaRPr/>
          </a:p>
        </p:txBody>
      </p:sp>
      <p:sp>
        <p:nvSpPr>
          <p:cNvPr id="181" name="Google Shape;181;p38"/>
          <p:cNvSpPr/>
          <p:nvPr/>
        </p:nvSpPr>
        <p:spPr>
          <a:xfrm>
            <a:off x="743400" y="1003525"/>
            <a:ext cx="4862400" cy="160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[High level visualization of the model pipeline]</a:t>
            </a:r>
            <a:endParaRPr sz="16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82" name="Google Shape;182;p38"/>
          <p:cNvSpPr/>
          <p:nvPr/>
        </p:nvSpPr>
        <p:spPr>
          <a:xfrm>
            <a:off x="743400" y="3020950"/>
            <a:ext cx="2142900" cy="151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[Key Metrics]</a:t>
            </a:r>
            <a:endParaRPr sz="12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83" name="Google Shape;183;p38"/>
          <p:cNvSpPr txBox="1"/>
          <p:nvPr/>
        </p:nvSpPr>
        <p:spPr>
          <a:xfrm>
            <a:off x="7130550" y="1312450"/>
            <a:ext cx="17025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Key Insights:</a:t>
            </a:r>
            <a:endParaRPr sz="13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175260" lvl="0" marL="27432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Outfit Light"/>
              <a:buChar char="●"/>
            </a:pPr>
            <a:r>
              <a:rPr lang="en" sz="11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[Interpretation of Metrics]</a:t>
            </a:r>
            <a:endParaRPr sz="11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17526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Outfit Light"/>
              <a:buChar char="●"/>
            </a:pPr>
            <a:r>
              <a:rPr lang="en" sz="11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…</a:t>
            </a:r>
            <a:endParaRPr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4" name="Google Shape;184;p38"/>
          <p:cNvSpPr/>
          <p:nvPr/>
        </p:nvSpPr>
        <p:spPr>
          <a:xfrm>
            <a:off x="3462900" y="3020950"/>
            <a:ext cx="2142900" cy="151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F7F7F"/>
                </a:solidFill>
                <a:latin typeface="Outfit"/>
                <a:ea typeface="Outfit"/>
                <a:cs typeface="Outfit"/>
                <a:sym typeface="Outfit"/>
              </a:rPr>
              <a:t>[Design Decision]</a:t>
            </a:r>
            <a:endParaRPr sz="12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185" name="Google Shape;185;p38"/>
          <p:cNvCxnSpPr/>
          <p:nvPr/>
        </p:nvCxnSpPr>
        <p:spPr>
          <a:xfrm>
            <a:off x="7200350" y="1711525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9"/>
          <p:cNvSpPr txBox="1"/>
          <p:nvPr/>
        </p:nvSpPr>
        <p:spPr>
          <a:xfrm>
            <a:off x="2535500" y="2860725"/>
            <a:ext cx="408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Outfit Thin"/>
                <a:ea typeface="Outfit Thin"/>
                <a:cs typeface="Outfit Thin"/>
                <a:sym typeface="Outfit Thin"/>
              </a:rPr>
              <a:t>WE TURN DATA INTO VALUE.</a:t>
            </a:r>
            <a:endParaRPr sz="2800">
              <a:solidFill>
                <a:schemeClr val="accent6"/>
              </a:solidFill>
              <a:latin typeface="Outfit Thin"/>
              <a:ea typeface="Outfit Thin"/>
              <a:cs typeface="Outfit Thin"/>
              <a:sym typeface="Outfit Th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/>
          <p:nvPr/>
        </p:nvSpPr>
        <p:spPr>
          <a:xfrm>
            <a:off x="7425175" y="1219250"/>
            <a:ext cx="955800" cy="351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0"/>
          <p:cNvSpPr txBox="1"/>
          <p:nvPr/>
        </p:nvSpPr>
        <p:spPr>
          <a:xfrm>
            <a:off x="432918" y="1017449"/>
            <a:ext cx="3000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42424"/>
                </a:solidFill>
                <a:latin typeface="Outfit Medium"/>
                <a:ea typeface="Outfit Medium"/>
                <a:cs typeface="Outfit Medium"/>
                <a:sym typeface="Outfit Medium"/>
              </a:rPr>
              <a:t>Color</a:t>
            </a:r>
            <a:endParaRPr sz="3600">
              <a:solidFill>
                <a:srgbClr val="242424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42424"/>
                </a:solidFill>
                <a:latin typeface="Outfit Medium"/>
                <a:ea typeface="Outfit Medium"/>
                <a:cs typeface="Outfit Medium"/>
                <a:sym typeface="Outfit Medium"/>
              </a:rPr>
              <a:t>Scheme.</a:t>
            </a:r>
            <a:endParaRPr sz="3600">
              <a:solidFill>
                <a:srgbClr val="242424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97" name="Google Shape;197;p40"/>
          <p:cNvSpPr txBox="1"/>
          <p:nvPr>
            <p:ph idx="4294967295" type="subTitle"/>
          </p:nvPr>
        </p:nvSpPr>
        <p:spPr>
          <a:xfrm>
            <a:off x="463800" y="2819400"/>
            <a:ext cx="3800400" cy="14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00">
                <a:solidFill>
                  <a:srgbClr val="242424"/>
                </a:solidFill>
                <a:latin typeface="Outfit Light"/>
                <a:ea typeface="Outfit Light"/>
                <a:cs typeface="Outfit Light"/>
                <a:sym typeface="Outfit Light"/>
              </a:rPr>
              <a:t>These are our colors in order of use.</a:t>
            </a:r>
            <a:endParaRPr sz="1000">
              <a:solidFill>
                <a:srgbClr val="242424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98" name="Google Shape;198;p40"/>
          <p:cNvSpPr txBox="1"/>
          <p:nvPr>
            <p:ph idx="1" type="body"/>
          </p:nvPr>
        </p:nvSpPr>
        <p:spPr>
          <a:xfrm>
            <a:off x="463800" y="2571750"/>
            <a:ext cx="6598200" cy="4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1000">
                <a:solidFill>
                  <a:srgbClr val="242424"/>
                </a:solidFill>
                <a:latin typeface="Outfit"/>
                <a:ea typeface="Outfit"/>
                <a:cs typeface="Outfit"/>
                <a:sym typeface="Outfit"/>
              </a:rPr>
              <a:t>Color Codes</a:t>
            </a:r>
            <a:endParaRPr b="1" sz="1000">
              <a:solidFill>
                <a:srgbClr val="24242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9" name="Google Shape;199;p40"/>
          <p:cNvSpPr/>
          <p:nvPr/>
        </p:nvSpPr>
        <p:spPr>
          <a:xfrm>
            <a:off x="2951550" y="1219250"/>
            <a:ext cx="2566200" cy="351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0"/>
          <p:cNvSpPr/>
          <p:nvPr/>
        </p:nvSpPr>
        <p:spPr>
          <a:xfrm>
            <a:off x="4856550" y="1219250"/>
            <a:ext cx="1614900" cy="351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0"/>
          <p:cNvSpPr/>
          <p:nvPr/>
        </p:nvSpPr>
        <p:spPr>
          <a:xfrm>
            <a:off x="8359075" y="1219250"/>
            <a:ext cx="583500" cy="3510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0"/>
          <p:cNvSpPr/>
          <p:nvPr/>
        </p:nvSpPr>
        <p:spPr>
          <a:xfrm>
            <a:off x="6280500" y="1219250"/>
            <a:ext cx="1200900" cy="351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0"/>
          <p:cNvSpPr txBox="1"/>
          <p:nvPr>
            <p:ph idx="12" type="sldNum"/>
          </p:nvPr>
        </p:nvSpPr>
        <p:spPr>
          <a:xfrm>
            <a:off x="8328175" y="4949900"/>
            <a:ext cx="548700" cy="1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valis_Decks">
  <a:themeElements>
    <a:clrScheme name="Simple Light">
      <a:dk1>
        <a:srgbClr val="242424"/>
      </a:dk1>
      <a:lt1>
        <a:srgbClr val="FFFFFF"/>
      </a:lt1>
      <a:dk2>
        <a:srgbClr val="595959"/>
      </a:dk2>
      <a:lt2>
        <a:srgbClr val="F3F4EA"/>
      </a:lt2>
      <a:accent1>
        <a:srgbClr val="8DAB8E"/>
      </a:accent1>
      <a:accent2>
        <a:srgbClr val="314A43"/>
      </a:accent2>
      <a:accent3>
        <a:srgbClr val="314A43"/>
      </a:accent3>
      <a:accent4>
        <a:srgbClr val="F7C329"/>
      </a:accent4>
      <a:accent5>
        <a:srgbClr val="314A43"/>
      </a:accent5>
      <a:accent6>
        <a:srgbClr val="EEEEEC"/>
      </a:accent6>
      <a:hlink>
        <a:srgbClr val="8DAB8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